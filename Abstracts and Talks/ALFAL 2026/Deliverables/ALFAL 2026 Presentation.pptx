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34"/>
  </p:notesMasterIdLst>
  <p:sldIdLst>
    <p:sldId id="849" r:id="rId4"/>
    <p:sldId id="841" r:id="rId5"/>
    <p:sldId id="850" r:id="rId6"/>
    <p:sldId id="851" r:id="rId7"/>
    <p:sldId id="852" r:id="rId8"/>
    <p:sldId id="853" r:id="rId9"/>
    <p:sldId id="843" r:id="rId10"/>
    <p:sldId id="854" r:id="rId11"/>
    <p:sldId id="745" r:id="rId12"/>
    <p:sldId id="766" r:id="rId13"/>
    <p:sldId id="748" r:id="rId14"/>
    <p:sldId id="847" r:id="rId15"/>
    <p:sldId id="749" r:id="rId16"/>
    <p:sldId id="750" r:id="rId17"/>
    <p:sldId id="855" r:id="rId18"/>
    <p:sldId id="752" r:id="rId19"/>
    <p:sldId id="753" r:id="rId20"/>
    <p:sldId id="842" r:id="rId21"/>
    <p:sldId id="844" r:id="rId22"/>
    <p:sldId id="859" r:id="rId23"/>
    <p:sldId id="856" r:id="rId24"/>
    <p:sldId id="832" r:id="rId25"/>
    <p:sldId id="834" r:id="rId26"/>
    <p:sldId id="858" r:id="rId27"/>
    <p:sldId id="860" r:id="rId28"/>
    <p:sldId id="757" r:id="rId29"/>
    <p:sldId id="861" r:id="rId30"/>
    <p:sldId id="840" r:id="rId31"/>
    <p:sldId id="862" r:id="rId32"/>
    <p:sldId id="863" r:id="rId33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849"/>
            <p14:sldId id="841"/>
            <p14:sldId id="850"/>
            <p14:sldId id="851"/>
            <p14:sldId id="852"/>
            <p14:sldId id="853"/>
            <p14:sldId id="843"/>
            <p14:sldId id="854"/>
            <p14:sldId id="745"/>
            <p14:sldId id="766"/>
            <p14:sldId id="748"/>
            <p14:sldId id="847"/>
            <p14:sldId id="749"/>
            <p14:sldId id="750"/>
            <p14:sldId id="855"/>
            <p14:sldId id="752"/>
            <p14:sldId id="753"/>
            <p14:sldId id="842"/>
            <p14:sldId id="844"/>
            <p14:sldId id="859"/>
            <p14:sldId id="856"/>
            <p14:sldId id="832"/>
            <p14:sldId id="834"/>
            <p14:sldId id="858"/>
            <p14:sldId id="860"/>
            <p14:sldId id="757"/>
            <p14:sldId id="861"/>
            <p14:sldId id="840"/>
            <p14:sldId id="862"/>
            <p14:sldId id="8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clrMru>
    <a:srgbClr val="CD6B00"/>
    <a:srgbClr val="595959"/>
    <a:srgbClr val="FFED56"/>
    <a:srgbClr val="FFD600"/>
    <a:srgbClr val="C6531F"/>
    <a:srgbClr val="F4EFE0"/>
    <a:srgbClr val="BF5700"/>
    <a:srgbClr val="0432FF"/>
    <a:srgbClr val="C00000"/>
    <a:srgbClr val="DE7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8" autoAdjust="0"/>
    <p:restoredTop sz="90921" autoAdjust="0"/>
  </p:normalViewPr>
  <p:slideViewPr>
    <p:cSldViewPr>
      <p:cViewPr varScale="1">
        <p:scale>
          <a:sx n="162" d="100"/>
          <a:sy n="162" d="100"/>
        </p:scale>
        <p:origin x="16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7/30/26</a:t>
            </a:fld>
            <a:endParaRPr lang="en-US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D6A5-E510-951C-2347-BD13B1CD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269F4-8179-80B7-E3EB-2FBA9409E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1DA22-1C94-EC39-F8B2-7112C6574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49C4C-C43E-B967-E698-C5604F613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14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8BD5-6F78-CC18-B7C3-56CDCCCD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6104C-70A8-866E-83B6-446A126DD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8A6BB-350B-CB16-F805-064854F38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873FE-EBFB-4524-DF66-7845B29E7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07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CD993-87D0-D321-3A3D-06D3D802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A6955-19A9-82DB-227B-A48DA92D0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CF776-74F7-1C1D-4EA4-C4EE1EAB5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2DC12-9C7B-3C10-E099-7CFF9F72C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817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FC801-9C16-52A1-4AA0-94F5E854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F449A-9B91-4F24-6A18-FBE5F2ADC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62F40-A2F4-AB32-52BE-29FC8B139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A2EAA-5DDC-6C81-494A-F2DD92DA4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441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46815-1C3A-979A-3B27-423A1D43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E00EF-E782-5088-7318-D4C5191C3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B49E0-23FC-C3CE-B698-A2A014FE1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FC1A5-B947-0E0C-2935-3A928A031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560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C7B5-F9FF-8BA0-3065-5E1E1603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961D9-8E46-E1A9-3A6B-A5F4E20CC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01B21-FB41-F972-9990-57548B817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38FA1-9FD6-2BAB-0872-C740EE916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695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F012-B96F-3448-6933-9BC9948D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2C24D-F8EA-BDBE-0B72-88D970F83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F6BE9-CEFF-3706-A94E-9C910542A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A291F-B15E-EEDC-65C6-A7142F30F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977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21B9-DC32-FBAE-6291-E76CFD5C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A010A-67F1-967A-627A-01A897EA7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94CC8-584B-58CB-D655-2EEF4666B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67E18-A1E4-0033-5299-E42CCCFCD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86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A68D-EE41-13FA-B352-F6E3F9D6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C7126-EC8B-A04E-D141-77D2CD69F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3A73A-7364-E7BD-42E6-6EFBDA0F9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BE7C3-60D8-D359-6613-2206EB954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26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9237-CE32-C3FB-3E26-A57B3908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F3F84-80AE-C729-B1AA-7E925A55A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5C635-18EE-A7A1-AE05-6030E0A0C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5DD9E-5980-58FA-0A35-CCA4EEB3F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12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F8AA-9669-9503-DE51-0EC0951F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61EDB-1E76-0877-8A71-47440061D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1A679-3E45-9253-C14D-7F34DF696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B9F14-DA80-DAD0-BC8C-8A7BC1136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380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4B9E-8871-451B-A704-3E60E636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83C14-EB70-E4A7-F886-0AA65CA6F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E73A3-014A-8001-907F-C824DB038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40F98-7D6F-F71F-2D95-DBC4A6CB6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99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1C14-6B24-0AD2-62A6-A87F8572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FFD1B-D6FB-529D-46D0-E84F2E2F3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574F6-10D2-876E-060B-8734B0EFF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0D519-321B-D695-4449-D51BD4FAF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783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0F0C-E60A-B114-2988-60D25BE5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E6E77-0199-C759-8AFC-C52935DA6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19708-CF60-490E-0068-D172FDDCB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9E689-67D0-311A-16B2-EA238819C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28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FA5F0-E11D-8793-0B29-A87A208A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A31BE-03D4-6D34-8538-845A4CBE4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09E32-9526-36A5-25E9-3B47C8907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7A930-90F8-87A4-1DB1-058C139D2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115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1A4D-9E23-FB16-B2A2-0A34F1DC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A07B2-75C7-F84F-17E1-1080B59B1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6D037-AD2D-53F6-68D5-ADB483BD3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AA5B7-DE0C-8AC3-A15F-3993A52FB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734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C14C-EDD3-1E5F-86A6-320ABF774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AA60A-0699-465F-AFCB-6719D268B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B67CF-C2C0-ABFD-0DCE-ED937022A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A94C1-6BF0-8FF1-94D8-0A309424B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941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452B-5988-84DE-3D43-93C3F7E4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50BF8-C4FC-00B8-5FCC-6DE87B1B7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40409-F324-5343-4C03-31AAC54D3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E6E80-8D97-94F5-8F42-4B04FA45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035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64B6-C9F3-7B66-4E11-865E108B9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F112F-81F9-9ED3-0628-BCA33D158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E581F-EB08-4EC1-405C-5551CD0FF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DCB8-72A4-727E-5284-D0B14F335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65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012A6-BF30-F472-09E5-7FA3571C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FA1B1-C5F5-88A7-D5D8-6B3603324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AF240-CC4E-7EB5-640A-FFA694169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A7B4F-C0DC-12BD-43D5-DF5864B14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28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CD8C-17B9-2B0A-24AC-47803F94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96532-920E-CCAC-9C55-02D5F44DD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2765F-3873-F688-4C78-6B55B6DEB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FEACE-8548-8E51-82E1-3CB3D36B1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236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7A4-F1E9-9B12-65EA-53611151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9CE75-393A-FD9A-E150-AD6E74DDB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8D703-526E-FF6C-D7CD-16E16C8FE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139EB-7DD9-A225-D196-5E2B3C160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1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23A78-CB77-BD88-B772-CE577BB9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79BA6-46DB-D191-4398-B0C8C8536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90162-F984-8056-55DA-C240BF485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784AD-CD8F-4510-3566-16957A0C4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0327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2907-D275-CE58-DDDB-6305A6D43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937BB-089A-F5F2-DE86-B7AF92481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CB496-8C47-B070-5318-B3CA25E37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FC8E1-5D64-9887-EFEF-54C00132D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1244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D7ED1-CC17-8386-9792-FE336E344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4CDEB-E817-1510-CABB-FF03AC7FE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0C36E-E357-E285-80A1-BB2BD4D60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506AB-7267-43B6-9A2E-9BA215D36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557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D5C2-DA78-96E6-FF71-57ABD0C8E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1ED8E-241A-A945-7E93-8AC33566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00C06-F4B6-7C4D-C1BB-E8F604D5B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9CB7D-A3D9-216B-D243-E12B84AE1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04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26F23-F3E7-A75A-3C05-5E6F9FAF0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3EA7B-C115-E512-EB7E-148AD3A8F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A5407-7085-353F-DC8E-AE1BB82BE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29865-4C1B-26BF-F55B-02ACE4871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2781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3BB3-6A35-B4BC-4F99-BA7C632F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EC023-2E57-4943-978F-BDEF43C32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15B2D-FAFC-05A6-183E-363A3927F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3DB3E-B2B8-9AD4-E301-8BD76BFAC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114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3B92-527F-1BB2-B0BD-70D45AEC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01134-0A86-63B6-CEFE-47679744E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0AA4E-BB29-633A-478B-BD4F4D1E9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40FC5-90DC-DD48-72AC-13F031144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10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dthane@utexas.e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mailto:pdthane@utexas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pdthane@utexas.edu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>
            <a:cxnSpLocks/>
          </p:cNvCxnSpPr>
          <p:nvPr/>
        </p:nvCxnSpPr>
        <p:spPr>
          <a:xfrm>
            <a:off x="628650" y="3595706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3943350"/>
            <a:ext cx="7886700" cy="7429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s-ES_tradnl" b="0" i="0" cap="all" baseline="0" noProof="0" dirty="0">
                <a:solidFill>
                  <a:srgbClr val="BF5700"/>
                </a:solidFill>
                <a:latin typeface="Arial Black" charset="0"/>
              </a:rPr>
              <a:t>Patrick D. Thane (</a:t>
            </a:r>
            <a:r>
              <a:rPr lang="es-ES_tradnl" b="0" i="0" cap="all" baseline="0" noProof="0" dirty="0" err="1">
                <a:solidFill>
                  <a:srgbClr val="BF5700"/>
                </a:solidFill>
                <a:latin typeface="Arial Black" charset="0"/>
                <a:hlinkClick r:id="rId3"/>
              </a:rPr>
              <a:t>pdthane@utexas.ed</a:t>
            </a:r>
            <a:r>
              <a:rPr lang="es-ES_tradnl" b="0" i="0" cap="all" baseline="0" noProof="0" dirty="0" err="1">
                <a:solidFill>
                  <a:srgbClr val="BF5700"/>
                </a:solidFill>
                <a:latin typeface="Arial Black" charset="0"/>
                <a:hlinkClick r:id="rId4"/>
              </a:rPr>
              <a:t>u</a:t>
            </a:r>
            <a:r>
              <a:rPr lang="es-ES_tradnl" b="0" i="0" cap="all" baseline="0" noProof="0" dirty="0">
                <a:solidFill>
                  <a:srgbClr val="BF5700"/>
                </a:solidFill>
                <a:latin typeface="Arial Black" charset="0"/>
              </a:rPr>
              <a:t>)</a:t>
            </a:r>
          </a:p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s-ES_tradnl" cap="all" noProof="0" dirty="0">
                <a:solidFill>
                  <a:srgbClr val="BF5700"/>
                </a:solidFill>
                <a:latin typeface="Arial Black" charset="0"/>
              </a:rPr>
              <a:t>Universidad de Texas en Austin</a:t>
            </a:r>
            <a:endParaRPr lang="es-ES_tradnl" b="0" i="0" cap="all" baseline="0" noProof="0" dirty="0">
              <a:solidFill>
                <a:srgbClr val="BF5700"/>
              </a:solidFill>
              <a:latin typeface="Arial Black" charset="0"/>
            </a:endParaRP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4733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s-ES_tradnl" sz="1200" cap="all" noProof="0" dirty="0">
                <a:solidFill>
                  <a:srgbClr val="BF5700"/>
                </a:solidFill>
                <a:latin typeface="Arial Black" charset="0"/>
              </a:rPr>
              <a:t>Asociación de Lingüística y Filología de América Latina</a:t>
            </a:r>
          </a:p>
          <a:p>
            <a:pPr fontAlgn="auto">
              <a:spcAft>
                <a:spcPts val="0"/>
              </a:spcAft>
            </a:pPr>
            <a:r>
              <a:rPr lang="es-ES_tradnl" sz="1200" b="0" cap="all" noProof="0" dirty="0">
                <a:solidFill>
                  <a:srgbClr val="BF5700"/>
                </a:solidFill>
                <a:latin typeface="Arial Black" charset="0"/>
              </a:rPr>
              <a:t>Pontificia Universidad católica de Perú</a:t>
            </a:r>
            <a:endParaRPr lang="es-ES_tradnl" sz="1200" b="0" noProof="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490384" y="1538306"/>
            <a:ext cx="7886700" cy="2100244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ES_tradnl" sz="2800" cap="none" noProof="0" dirty="0">
                <a:solidFill>
                  <a:srgbClr val="BF5700"/>
                </a:solidFill>
                <a:latin typeface="Arial Black" panose="020B0604020202020204" pitchFamily="34" charset="0"/>
                <a:ea typeface="Palatino" pitchFamily="2" charset="77"/>
                <a:cs typeface="Arial Black" panose="020B0604020202020204" pitchFamily="34" charset="0"/>
              </a:rPr>
              <a:t>Los efectos de edad y educación en la adquisición del marcado diferencial del objeto en el español de herencia en los Estados Unidos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4" t="20905" r="11454" b="26174"/>
          <a:stretch/>
        </p:blipFill>
        <p:spPr>
          <a:xfrm>
            <a:off x="7239000" y="438150"/>
            <a:ext cx="1371600" cy="473396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D86FDE6-022B-39B3-B017-2FF71995555E}"/>
              </a:ext>
            </a:extLst>
          </p:cNvPr>
          <p:cNvSpPr txBox="1">
            <a:spLocks/>
          </p:cNvSpPr>
          <p:nvPr/>
        </p:nvSpPr>
        <p:spPr>
          <a:xfrm>
            <a:off x="548640" y="2967054"/>
            <a:ext cx="7886700" cy="6286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s-ES_tradnl" sz="2000" noProof="0" dirty="0">
              <a:solidFill>
                <a:srgbClr val="BF57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CFC04-F7C2-3284-0B72-B647F638BE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4" y="468653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3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7AA5-2F10-51EC-B2AE-60148823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D0FC4A-B5F2-7551-35F9-04D295F4D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4013" indent="-354013">
              <a:buFont typeface="Wingdings" pitchFamily="2" charset="2"/>
              <a:buChar char="Ø"/>
            </a:pPr>
            <a:r>
              <a:rPr lang="es-ES_tradnl" sz="20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Lengua de herencia:</a:t>
            </a: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variante de una lengua hablada en un contexto donde no es dominante en las instituciones públicas o sociales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Español en los Estados Unidos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Turco en Alemania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Árabe en Francia</a:t>
            </a:r>
          </a:p>
          <a:p>
            <a:pPr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Características de los </a:t>
            </a:r>
            <a:r>
              <a:rPr lang="es-ES_tradnl" sz="20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hablantes de herencia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(HH):</a:t>
            </a:r>
          </a:p>
          <a:p>
            <a:pPr lvl="1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Transferencia/influencia </a:t>
            </a:r>
            <a:r>
              <a:rPr lang="es-ES_tradnl" sz="1600" noProof="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croslingüística</a:t>
            </a: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de la lengua dominante</a:t>
            </a:r>
          </a:p>
          <a:p>
            <a:pPr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Diferentes patrones de uso influyen en el grado de influencia de la lengua dominante</a:t>
            </a:r>
          </a:p>
          <a:p>
            <a:pPr lvl="1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Mucha heterogeneidad entre distintos hablantes</a:t>
            </a:r>
            <a:endParaRPr lang="es-ES_tradnl" sz="12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BA1EC5-F39A-E9DD-4833-4913FF68167A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D3C1BDC-D8A7-54AF-88F4-CA593CBAF534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Las lenguas de herencia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0DAC20-698A-BB15-2AF6-5F9FB8AFB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3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CE34-27E2-BE8A-69A1-3AC6BDB9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D15CA7-3F9D-C71A-E389-09ACFE01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0838" indent="-341313">
              <a:buFont typeface="Wingdings" pitchFamily="2" charset="2"/>
              <a:buChar char="Ø"/>
            </a:pP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50838" indent="-341313">
              <a:buFont typeface="Wingdings" pitchFamily="2" charset="2"/>
              <a:buChar char="Ø"/>
            </a:pP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9525" indent="0">
              <a:buNone/>
            </a:pP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9525" indent="0">
              <a:buNone/>
            </a:pPr>
            <a:endParaRPr lang="es-ES_tradnl" sz="24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50838" indent="-3413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¿Cómo podemos proponer un modelo en tres distintos niveles?</a:t>
            </a:r>
          </a:p>
          <a:p>
            <a:pPr marL="350838" indent="-3413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Putnam &amp; Sánchez (2013), </a:t>
            </a:r>
            <a:r>
              <a:rPr lang="es-ES_tradnl" sz="20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Perez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-Cortes et al. (2019)</a:t>
            </a:r>
          </a:p>
          <a:p>
            <a:pPr marL="750888" lvl="1" indent="-3413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CD6B00"/>
                </a:solidFill>
                <a:latin typeface="Palatino" pitchFamily="2" charset="77"/>
                <a:ea typeface="Palatino" pitchFamily="2" charset="77"/>
              </a:rPr>
              <a:t>La frecuencia de uso/exposición refleja patrones de activación en personas bilingües</a:t>
            </a:r>
          </a:p>
          <a:p>
            <a:pPr marL="750888" lvl="1" indent="-3413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CD6B00"/>
                </a:solidFill>
                <a:latin typeface="Palatino" pitchFamily="2" charset="77"/>
                <a:ea typeface="Palatino" pitchFamily="2" charset="77"/>
              </a:rPr>
              <a:t>Frecuente activación ~ frecuente conservación de rasgos funcionales en los HH</a:t>
            </a:r>
          </a:p>
          <a:p>
            <a:pPr marL="750888" lvl="1" indent="-3413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00B0F0"/>
                </a:solidFill>
                <a:latin typeface="Palatino" pitchFamily="2" charset="77"/>
                <a:ea typeface="Palatino" pitchFamily="2" charset="77"/>
              </a:rPr>
              <a:t>Infrecuente activación ~ disociación entre la producción y el conocimiento receptivo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63CEF-B42D-A18B-0472-46894C2AC911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0ADA7A6-7130-28B9-AE96-F0D5FF427D2D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Variabilidad en los hablantes de herencia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ED7459-30F9-4692-CEA1-AA4B35C99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C65D82-0466-6522-7389-631557B73E87}"/>
              </a:ext>
            </a:extLst>
          </p:cNvPr>
          <p:cNvSpPr/>
          <p:nvPr/>
        </p:nvSpPr>
        <p:spPr>
          <a:xfrm>
            <a:off x="204083" y="1201416"/>
            <a:ext cx="8869680" cy="457200"/>
          </a:xfrm>
          <a:prstGeom prst="roundRect">
            <a:avLst/>
          </a:prstGeom>
          <a:solidFill>
            <a:srgbClr val="FFD600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b="1" noProof="0" dirty="0">
                <a:solidFill>
                  <a:sysClr val="windowText" lastClr="000000"/>
                </a:solidFill>
                <a:latin typeface="Palatino" pitchFamily="2" charset="77"/>
                <a:ea typeface="Palatino" pitchFamily="2" charset="77"/>
              </a:rPr>
              <a:t>Entre grupos (¿cómo difieren los HH de otras poblaciones de hablantes?)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07D57A-5023-37B9-80F3-808DBE7D1821}"/>
              </a:ext>
            </a:extLst>
          </p:cNvPr>
          <p:cNvSpPr/>
          <p:nvPr/>
        </p:nvSpPr>
        <p:spPr>
          <a:xfrm>
            <a:off x="661283" y="1747172"/>
            <a:ext cx="7955280" cy="444844"/>
          </a:xfrm>
          <a:prstGeom prst="roundRect">
            <a:avLst/>
          </a:prstGeom>
          <a:solidFill>
            <a:srgbClr val="BF5700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b="1" noProof="0" dirty="0">
                <a:latin typeface="Palatino" pitchFamily="2" charset="77"/>
                <a:ea typeface="Palatino" pitchFamily="2" charset="77"/>
              </a:rPr>
              <a:t>Entre hablantes/individual (¿Cómo difiere un HH de otro HH?)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2BB3EEA-68CA-B5A6-0A1F-67589947DCEC}"/>
              </a:ext>
            </a:extLst>
          </p:cNvPr>
          <p:cNvSpPr/>
          <p:nvPr/>
        </p:nvSpPr>
        <p:spPr>
          <a:xfrm>
            <a:off x="1019081" y="2280572"/>
            <a:ext cx="7182037" cy="444844"/>
          </a:xfrm>
          <a:prstGeom prst="roundRect">
            <a:avLst/>
          </a:prstGeom>
          <a:solidFill>
            <a:srgbClr val="00B0F0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b="1" noProof="0" dirty="0" err="1">
                <a:latin typeface="Palatino" pitchFamily="2" charset="77"/>
                <a:ea typeface="Palatino" pitchFamily="2" charset="77"/>
              </a:rPr>
              <a:t>Intrahablante</a:t>
            </a:r>
            <a:r>
              <a:rPr lang="es-ES_tradnl" sz="1800" b="1" noProof="0" dirty="0">
                <a:latin typeface="Palatino" pitchFamily="2" charset="77"/>
                <a:ea typeface="Palatino" pitchFamily="2" charset="77"/>
              </a:rPr>
              <a:t> (¿Cómo se explica la variación dentro del hablante?)</a:t>
            </a:r>
          </a:p>
        </p:txBody>
      </p:sp>
    </p:spTree>
    <p:extLst>
      <p:ext uri="{BB962C8B-B14F-4D97-AF65-F5344CB8AC3E}">
        <p14:creationId xmlns:p14="http://schemas.microsoft.com/office/powerpoint/2010/main" val="124873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9C162-DA5F-8C74-A511-84AAD0D3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FCB2D3-4894-7981-8625-EDA5D0B6E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4013" indent="-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Generalmente se miden los efectos de exposición en niños </a:t>
            </a:r>
            <a:r>
              <a:rPr lang="es-ES_tradnl" sz="2000" i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</a:t>
            </a: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adultos</a:t>
            </a:r>
            <a:endParaRPr lang="es-ES_tradnl" sz="12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“</a:t>
            </a:r>
            <a:r>
              <a:rPr lang="es-ES_tradnl" sz="1600" noProof="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Missing</a:t>
            </a: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link” (Montrul, 2018, p. 534): niños de edad escolar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¿Cómo se progresa la adquisición de la lengua de herencia durante los años escolares?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Medir el uso de la lengua de los niños desde la perspectiva de un familiar ≠ preguntar al participante sobre su propio uso de la lengua de herencia</a:t>
            </a:r>
          </a:p>
          <a:p>
            <a:pPr marL="354013" indent="-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¿Cómo influye la educación en la lengua de herencia en su conservación?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Cuestión de justicia lingüística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Medible mediante el estudio de los efectos de la </a:t>
            </a:r>
            <a:r>
              <a:rPr lang="es-ES_tradnl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educación de inmersión doble</a:t>
            </a:r>
            <a:endParaRPr lang="es-ES_tradnl" sz="16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8A1BC-8993-1AE8-5C5B-97A664A012B0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4ACC40-D076-57D0-D600-29B74F1B16F2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Métodos de medir la exposición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DD424B-DAA9-71CD-AB44-0B4751E43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4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6495-19B5-D872-2AA4-C3CEEA25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F51214-7D35-C78A-36F3-AD8DB5D1C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4013" indent="-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50% de instrucción en inglés y la </a:t>
            </a:r>
            <a:r>
              <a:rPr lang="es-ES_tradnl" sz="20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lengua pareja</a:t>
            </a:r>
            <a:endParaRPr lang="es-ES_tradnl" sz="20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Generalmente español; otras lenguas: mandarín, vietnamita, navajo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Exposición durante los primeros 6 años de la escuela primaria</a:t>
            </a:r>
          </a:p>
          <a:p>
            <a:pPr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en educación monolingüe en inglés experimentan un cambio de dominancia del español a inglés ~5 años (Castilla-Earls et al., 2019)</a:t>
            </a:r>
          </a:p>
          <a:p>
            <a:pPr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en la inmersión doble conservan activación de la lengua de herencia durante el día escolar</a:t>
            </a:r>
          </a:p>
          <a:p>
            <a:pPr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Se necesitan medir la exposición por dos formas:</a:t>
            </a:r>
          </a:p>
          <a:p>
            <a:pPr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En contextos fuera de la escuela</a:t>
            </a:r>
          </a:p>
          <a:p>
            <a:pPr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Efectos de educación</a:t>
            </a:r>
            <a:endParaRPr lang="es-ES_tradnl" sz="12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7AA88A-D8DA-2E61-428C-4E70F8B2078C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70989B4-ED4D-C7B3-642B-26D8722C9594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Educación de inmersión doble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035C41-C226-7DDA-AAF0-DF00625DD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0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11501-5973-C54A-401D-2C5E551B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23DE1C-57D1-95B2-ADCE-D6DCD39CF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4013" indent="-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activación de la lengua de herencia explica la variación individual</a:t>
            </a:r>
            <a:endParaRPr lang="es-ES_tradnl" sz="8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54013" indent="-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¿Cómo progresa la adquisición de la lengua de herencia durante la niñez?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Influencia de la educación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Influencia del uso fuera de la escuela</a:t>
            </a:r>
          </a:p>
          <a:p>
            <a:pPr marL="354013" indent="-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Más activación de la lengua de herencia…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…Menos influencia de la lengua socialmente dominante</a:t>
            </a:r>
          </a:p>
          <a:p>
            <a:pPr marL="754063" lvl="1" indent="-3540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…Menos disociación entre la producción y el conocimiento receptivo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81EAD-66D2-0E84-D215-CDB7E647DCC1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7CD2001-4AEC-7F9C-DF1F-311EC046AD92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Resumen intermitente</a:t>
            </a:r>
            <a:endParaRPr lang="es-ES_tradnl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40614A-B92D-AEE1-BAD3-00ED203E3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395F-30C1-6DD2-3D64-8C6DF587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F89C7B-7A61-F3D5-DE85-7A7E239E3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objetos directos en español se marcan con </a:t>
            </a:r>
            <a:r>
              <a:rPr lang="es-ES_tradnl" sz="20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cuando son animados y específicos:</a:t>
            </a:r>
          </a:p>
          <a:p>
            <a:pPr marL="804863" lvl="1" indent="-341313">
              <a:buFont typeface="Wingdings" pitchFamily="2" charset="2"/>
              <a:buChar char="v"/>
            </a:pPr>
            <a:r>
              <a:rPr lang="es-ES_tradnl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estudiantes </a:t>
            </a:r>
            <a:r>
              <a:rPr lang="es-ES_tradnl" sz="1600" b="1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miran a Arch</a:t>
            </a:r>
            <a:r>
              <a:rPr lang="es-ES_tradnl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</a:t>
            </a: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(“Arch” es animado + específico)</a:t>
            </a:r>
            <a:endParaRPr lang="es-ES_tradnl" sz="1600" i="1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804863" lvl="1" indent="-341313">
              <a:buFont typeface="Wingdings" pitchFamily="2" charset="2"/>
              <a:buChar char="v"/>
            </a:pPr>
            <a:r>
              <a:rPr lang="es-ES_tradnl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estudiantes </a:t>
            </a:r>
            <a:r>
              <a:rPr lang="es-ES_tradnl" sz="1600" b="1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miran un partido</a:t>
            </a: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(“partido”</a:t>
            </a:r>
            <a:r>
              <a:rPr lang="es-ES_tradnl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</a:t>
            </a: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no es animado ni específico)</a:t>
            </a:r>
          </a:p>
          <a:p>
            <a:pPr marL="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El MDO implica la sintaxis y la semántica (Torrego, 1998)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Se requiere </a:t>
            </a:r>
            <a:r>
              <a:rPr lang="es-ES_tradnl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</a:t>
            </a: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con los objetos indirectos léxicos (sin influencia semántica)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Objetos directos marcados ascienden de dentro de VP a </a:t>
            </a:r>
            <a:r>
              <a:rPr lang="es-ES_tradnl" sz="1600" i="1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Espec,vP</a:t>
            </a: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para cotejar un rasgo D interpretable</a:t>
            </a:r>
          </a:p>
          <a:p>
            <a:pPr marL="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El MDO no está presente en inglés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Baja activación: falta de ascenso del objeto directo al </a:t>
            </a:r>
            <a:r>
              <a:rPr lang="es-ES_tradnl" sz="1600" i="1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Espec,vP</a:t>
            </a:r>
            <a:endParaRPr lang="es-ES_tradnl" sz="1600" i="1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Particularmente probable en la producción y con ítems léxicos infrecuentes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1688D-80E4-DFA6-D126-4AA64466EA21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F77D3C4-1299-5172-85C6-85FEB2AC249C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Marcado diferencial de objeto (MDO)</a:t>
            </a:r>
            <a:endParaRPr lang="es-ES_tradnl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8B098-4FFF-97A3-C433-3ECAB1055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0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3EB2-F754-4204-E6CA-103D2DF7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F242D9-C834-5A54-6739-9F784484E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Extensa variación en la realización del </a:t>
            </a:r>
            <a:r>
              <a:rPr lang="es-ES_tradnl" sz="20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en los HH (</a:t>
            </a:r>
            <a:r>
              <a:rPr lang="es-ES_tradnl" sz="20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Arechabaleta-Regulez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&amp; Montrul, 2023; Cuza et al., 2019; Montrul &amp; Sánchez-Walker, 2013)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¿Efectos de exposición?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¿Efectos de educación?</a:t>
            </a:r>
          </a:p>
          <a:p>
            <a:pPr marL="3540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Efectos de edad no claros: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No hay efecto de edad en niños (Cuza et al., 2019; Guijarro-Fuentes et al., 2017)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Adultos &gt; niños (Montrul &amp; Sánchez-Walker, 2013)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9D8143-8927-A6F0-C2D2-8C0BCF8E6DDE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81B2B81-00A5-536F-C4B7-57096729EDCD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Adquisición de MDO en español de herencia</a:t>
            </a:r>
            <a:endParaRPr lang="es-ES_tradnl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E36DDB-07EE-77FF-FD9C-8CE5EA5AF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9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5C94-0375-2879-6D0C-A16B1E70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57587-3F92-53AE-BE2D-FBAFE2A4D8E8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671CF27-ABC4-8FDE-DE43-A093A3547E81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Preguntas de investigación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0F2ECD-4E32-33FA-AB76-D53109F586F7}"/>
              </a:ext>
            </a:extLst>
          </p:cNvPr>
          <p:cNvSpPr/>
          <p:nvPr/>
        </p:nvSpPr>
        <p:spPr>
          <a:xfrm>
            <a:off x="1866900" y="2860358"/>
            <a:ext cx="5486400" cy="750674"/>
          </a:xfrm>
          <a:prstGeom prst="roundRect">
            <a:avLst/>
          </a:prstGeom>
          <a:solidFill>
            <a:srgbClr val="00B0F0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7663" indent="-339329">
              <a:tabLst>
                <a:tab pos="164306" algn="l"/>
              </a:tabLst>
            </a:pPr>
            <a:r>
              <a:rPr lang="es-ES_tradnl" sz="2000" noProof="0" dirty="0">
                <a:latin typeface="Palatino" pitchFamily="2" charset="77"/>
                <a:ea typeface="Palatino" pitchFamily="2" charset="77"/>
              </a:rPr>
              <a:t>(2)	¿Reconocen los HH el MDO más que lo producen?</a:t>
            </a:r>
            <a:endParaRPr lang="en-US" sz="2800" dirty="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EC72F7C-DD8B-B2F8-7E12-ECBB76B7ECEB}"/>
              </a:ext>
            </a:extLst>
          </p:cNvPr>
          <p:cNvSpPr/>
          <p:nvPr/>
        </p:nvSpPr>
        <p:spPr>
          <a:xfrm>
            <a:off x="1009650" y="1962150"/>
            <a:ext cx="7124700" cy="750674"/>
          </a:xfrm>
          <a:prstGeom prst="roundRect">
            <a:avLst/>
          </a:prstGeom>
          <a:solidFill>
            <a:srgbClr val="BF5700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7663" indent="-339329">
              <a:tabLst>
                <a:tab pos="164306" algn="l"/>
              </a:tabLst>
            </a:pPr>
            <a:r>
              <a:rPr lang="es-ES_tradnl" sz="2000" noProof="0" dirty="0">
                <a:latin typeface="Palatino" pitchFamily="2" charset="77"/>
                <a:ea typeface="Palatino" pitchFamily="2" charset="77"/>
              </a:rPr>
              <a:t>(1)	¿Influyen la edad, el uso del español, y la educación en la adquisición del MDO con objetos animados/específicos?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8D272-C651-CDE4-8385-4608EB9CF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2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81ED-423B-6835-2323-BFEB2E51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54293E-CD28-DE2F-AA65-2A8A33F70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810000"/>
          </a:xfrm>
        </p:spPr>
        <p:txBody>
          <a:bodyPr>
            <a:normAutofit/>
          </a:bodyPr>
          <a:lstStyle/>
          <a:p>
            <a:pPr marL="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cs typeface="Comfortaa"/>
                <a:sym typeface="Comfortaa"/>
              </a:rPr>
              <a:t>57 niños de edad escolar HH en español (11-14 años)</a:t>
            </a:r>
          </a:p>
          <a:p>
            <a:pPr marL="11113" indent="0">
              <a:buNone/>
            </a:pP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  <a:cs typeface="Comfortaa"/>
              <a:sym typeface="Comfortaa"/>
            </a:endParaRPr>
          </a:p>
          <a:p>
            <a:pPr marL="11113" indent="0">
              <a:buNone/>
            </a:pP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  <a:cs typeface="Comfortaa"/>
              <a:sym typeface="Comfortaa"/>
            </a:endParaRPr>
          </a:p>
          <a:p>
            <a:pPr marL="11113" indent="0">
              <a:buNone/>
            </a:pPr>
            <a:endParaRPr lang="es-ES_tradnl" sz="24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  <a:cs typeface="Comfortaa"/>
              <a:sym typeface="Comfortaa"/>
            </a:endParaRPr>
          </a:p>
          <a:p>
            <a:pPr marL="11113" indent="0">
              <a:buNone/>
            </a:pPr>
            <a:endParaRPr lang="es-ES_tradnl" sz="24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  <a:cs typeface="Comfortaa"/>
              <a:sym typeface="Comfortaa"/>
            </a:endParaRPr>
          </a:p>
          <a:p>
            <a:pPr marL="754063" lvl="1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cs typeface="Comfortaa"/>
                <a:sym typeface="Comfortaa"/>
              </a:rPr>
              <a:t>5° grado: terminación de la escolarización en español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cs typeface="Comfortaa"/>
                <a:sym typeface="Comfortaa"/>
              </a:rPr>
              <a:t>7°/8° grado: terminación del curso de español para HH después de la inmersión</a:t>
            </a:r>
          </a:p>
          <a:p>
            <a:pPr marL="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cs typeface="Comfortaa"/>
                <a:sym typeface="Comfortaa"/>
              </a:rPr>
              <a:t>34 HH adultos sin educación bilingüe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cs typeface="Comfortaa"/>
                <a:sym typeface="Comfortaa"/>
              </a:rPr>
              <a:t>¡Comparación más justa!</a:t>
            </a:r>
            <a:endParaRPr lang="es-ES_tradnl" sz="16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  <a:cs typeface="Comfortaa"/>
              <a:sym typeface="Comfortaa"/>
            </a:endParaRPr>
          </a:p>
          <a:p>
            <a:pPr marL="754063" lvl="1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cs typeface="Comfortaa"/>
                <a:sym typeface="Comfortaa"/>
              </a:rPr>
              <a:t>Representación del sistema maduro con efectos de bilingüismo como punto de referencia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C5090-B8D0-5FD8-4ED0-9F5388D42DD8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D9FD130-E328-B0F6-5307-0628BF5FD863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Participantes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7E0505-741D-96A0-C097-0294B3230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534244"/>
              </p:ext>
            </p:extLst>
          </p:nvPr>
        </p:nvGraphicFramePr>
        <p:xfrm>
          <a:off x="381000" y="1621790"/>
          <a:ext cx="8655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463606908"/>
                    </a:ext>
                  </a:extLst>
                </a:gridCol>
                <a:gridCol w="1683068">
                  <a:extLst>
                    <a:ext uri="{9D8B030D-6E8A-4147-A177-3AD203B41FA5}">
                      <a16:colId xmlns:a16="http://schemas.microsoft.com/office/drawing/2014/main" val="3861820937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42514713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45747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ESCUELA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5</a:t>
                      </a:r>
                      <a:r>
                        <a:rPr lang="es-ES_tradnl" baseline="30000" dirty="0">
                          <a:latin typeface="Palatino" pitchFamily="2" charset="77"/>
                          <a:ea typeface="Palatino" pitchFamily="2" charset="77"/>
                        </a:rPr>
                        <a:t>°</a:t>
                      </a:r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 GRADO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7</a:t>
                      </a:r>
                      <a:r>
                        <a:rPr lang="es-ES_tradnl" baseline="30000" dirty="0">
                          <a:latin typeface="Palatino" pitchFamily="2" charset="77"/>
                          <a:ea typeface="Palatino" pitchFamily="2" charset="77"/>
                        </a:rPr>
                        <a:t>°</a:t>
                      </a:r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/8</a:t>
                      </a:r>
                      <a:r>
                        <a:rPr lang="es-ES_tradnl" baseline="30000" dirty="0">
                          <a:latin typeface="Palatino" pitchFamily="2" charset="77"/>
                          <a:ea typeface="Palatino" pitchFamily="2" charset="77"/>
                        </a:rPr>
                        <a:t>°</a:t>
                      </a:r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 GRADO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08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Educación bilingüe (BL)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598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Escuela </a:t>
                      </a:r>
                      <a:r>
                        <a:rPr lang="es-ES_tradnl">
                          <a:latin typeface="Palatino" pitchFamily="2" charset="77"/>
                          <a:ea typeface="Palatino" pitchFamily="2" charset="77"/>
                        </a:rPr>
                        <a:t>monolingüe (ML)</a:t>
                      </a:r>
                      <a:endParaRPr lang="es-ES_tradnl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latin typeface="Palatino" pitchFamily="2" charset="77"/>
                          <a:ea typeface="Palatino" pitchFamily="2" charset="77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65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b="1" dirty="0">
                          <a:latin typeface="Palatino" pitchFamily="2" charset="77"/>
                          <a:ea typeface="Palatino" pitchFamily="2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>
                          <a:latin typeface="Palatino" pitchFamily="2" charset="77"/>
                          <a:ea typeface="Palatino" pitchFamily="2" charset="77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>
                          <a:latin typeface="Palatino" pitchFamily="2" charset="77"/>
                          <a:ea typeface="Palatino" pitchFamily="2" charset="77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>
                          <a:latin typeface="Palatino" pitchFamily="2" charset="77"/>
                          <a:ea typeface="Palatino" pitchFamily="2" charset="77"/>
                        </a:rPr>
                        <a:t>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49254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A841FF0-642A-8A7A-DB87-2DF406C8C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0D05-67CD-724A-5169-AC1E8AB7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7C061F-C9D7-7B49-6FCA-7F3826F86375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6C6B71A8-6AD8-2773-07F9-5345365EC851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Múltiples comparaciones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2DBF02-FE9E-C048-503A-18762BFA4214}"/>
              </a:ext>
            </a:extLst>
          </p:cNvPr>
          <p:cNvGrpSpPr/>
          <p:nvPr/>
        </p:nvGrpSpPr>
        <p:grpSpPr>
          <a:xfrm>
            <a:off x="152400" y="1333627"/>
            <a:ext cx="8839200" cy="3586353"/>
            <a:chOff x="0" y="63456"/>
            <a:chExt cx="5631180" cy="170497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2B66F8B-B741-89A5-2767-ABF2DEB40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456"/>
              <a:ext cx="1371600" cy="34448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s-ES_tradnl" sz="1200" b="1" kern="1200" noProof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ML-5</a:t>
              </a:r>
              <a:endParaRPr lang="es-ES_tradnl" sz="1200" kern="10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utoShape 13">
              <a:extLst>
                <a:ext uri="{FF2B5EF4-FFF2-40B4-BE49-F238E27FC236}">
                  <a16:creationId xmlns:a16="http://schemas.microsoft.com/office/drawing/2014/main" id="{A061AB84-33F2-87DE-E930-2E85702A3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425531"/>
              <a:ext cx="13716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s-ES_tradnl" sz="1200" b="1" kern="1200" noProof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ML-7/8</a:t>
              </a:r>
              <a:endParaRPr lang="es-ES_tradnl" sz="1200" kern="10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CBE1A57-221D-250F-CFCB-CEA72F650665}"/>
                </a:ext>
              </a:extLst>
            </p:cNvPr>
            <p:cNvCxnSpPr/>
            <p:nvPr/>
          </p:nvCxnSpPr>
          <p:spPr>
            <a:xfrm>
              <a:off x="685800" y="419691"/>
              <a:ext cx="0" cy="10058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518D493-DA67-AAF7-99CB-2972931729B2}"/>
                </a:ext>
              </a:extLst>
            </p:cNvPr>
            <p:cNvCxnSpPr/>
            <p:nvPr/>
          </p:nvCxnSpPr>
          <p:spPr>
            <a:xfrm>
              <a:off x="4945380" y="407944"/>
              <a:ext cx="0" cy="10058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5D636E4C-8459-A169-58C7-564765769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4501088" y="799708"/>
              <a:ext cx="1006475" cy="202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115000"/>
                </a:lnSpc>
                <a:spcAft>
                  <a:spcPts val="800"/>
                </a:spcAft>
              </a:pPr>
              <a:r>
                <a:rPr lang="es-ES_tradnl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Comparación de edad</a:t>
              </a:r>
              <a:endParaRPr lang="es-ES_tradnl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3D0192-E51C-1534-2CE1-81D6D81CDC08}"/>
                </a:ext>
              </a:extLst>
            </p:cNvPr>
            <p:cNvCxnSpPr/>
            <p:nvPr/>
          </p:nvCxnSpPr>
          <p:spPr>
            <a:xfrm>
              <a:off x="1371600" y="235700"/>
              <a:ext cx="28879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3DE2F63-2EB9-6717-02B4-86C2A4AB08CE}"/>
                </a:ext>
              </a:extLst>
            </p:cNvPr>
            <p:cNvCxnSpPr/>
            <p:nvPr/>
          </p:nvCxnSpPr>
          <p:spPr>
            <a:xfrm>
              <a:off x="1371600" y="1599474"/>
              <a:ext cx="28879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99B5EAE5-FBB2-1ED5-F6F5-169629FFA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5723" y="108678"/>
              <a:ext cx="2892425" cy="144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eaLnBrk="0" hangingPunct="0">
                <a:lnSpc>
                  <a:spcPct val="115000"/>
                </a:lnSpc>
                <a:spcAft>
                  <a:spcPts val="800"/>
                </a:spcAft>
              </a:pPr>
              <a:r>
                <a:rPr lang="es-ES_tradnl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Comparación educativa</a:t>
              </a:r>
              <a:endParaRPr lang="es-ES_tradnl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4">
              <a:extLst>
                <a:ext uri="{FF2B5EF4-FFF2-40B4-BE49-F238E27FC236}">
                  <a16:creationId xmlns:a16="http://schemas.microsoft.com/office/drawing/2014/main" id="{146F4762-9294-8372-32F9-A2ABFC83E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5723" y="1441340"/>
              <a:ext cx="2892425" cy="21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s-ES_tradnl" sz="1200" kern="1200" noProof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Comparación educativa</a:t>
              </a:r>
              <a:endParaRPr lang="es-ES_tradnl" sz="1200" kern="10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95FB9690-88FF-353F-3357-753241763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580" y="63456"/>
              <a:ext cx="1371600" cy="34448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s-ES_tradnl" sz="1200" b="1" kern="1200" noProof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BL-7/8</a:t>
              </a:r>
              <a:endParaRPr lang="es-ES_tradnl" sz="1200" kern="10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1A14661-F890-4B93-2878-6B91B5763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580" y="1423943"/>
              <a:ext cx="1371600" cy="34448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s-ES_tradnl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BL-7/8</a:t>
              </a:r>
              <a:endParaRPr lang="es-ES_tradnl" sz="1200" kern="10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276BEC3B-456F-FE83-C575-607B4D4FA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261668" y="835427"/>
              <a:ext cx="1006475" cy="170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eaLnBrk="0" fontAlgn="base" hangingPunct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s-ES_tradnl" sz="1200" kern="1200" noProof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Comparación de edad</a:t>
              </a:r>
              <a:endParaRPr lang="es-ES_tradnl" sz="1200" kern="10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85A32C83-388A-EEF0-15DC-5C3362730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6485" y="711145"/>
              <a:ext cx="1371600" cy="34448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s-ES_tradnl" sz="1200" b="1" kern="1200" noProof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Adultos de herencia</a:t>
              </a:r>
              <a:br>
                <a:rPr lang="es-ES_tradnl" sz="12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s-ES_tradnl" sz="12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(comparación de madurez)</a:t>
              </a:r>
              <a:endParaRPr lang="es-ES_tradnl" sz="1200" b="1" kern="1200" noProof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93B5191-6645-CDFD-8E3A-C10412E5D61F}"/>
                </a:ext>
              </a:extLst>
            </p:cNvPr>
            <p:cNvCxnSpPr>
              <a:cxnSpLocks/>
              <a:stCxn id="7" idx="3"/>
              <a:endCxn id="19" idx="1"/>
            </p:cNvCxnSpPr>
            <p:nvPr/>
          </p:nvCxnSpPr>
          <p:spPr>
            <a:xfrm>
              <a:off x="1371600" y="235700"/>
              <a:ext cx="854885" cy="6476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AB37018-131A-3795-FC2F-6FBCADEFC005}"/>
                </a:ext>
              </a:extLst>
            </p:cNvPr>
            <p:cNvCxnSpPr>
              <a:cxnSpLocks/>
              <a:stCxn id="17" idx="1"/>
              <a:endCxn id="19" idx="3"/>
            </p:cNvCxnSpPr>
            <p:nvPr/>
          </p:nvCxnSpPr>
          <p:spPr>
            <a:xfrm flipH="1" flipV="1">
              <a:off x="3598085" y="883389"/>
              <a:ext cx="661495" cy="7127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7BDFA3E-2269-4547-3189-2001445C27B6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1370013" y="883389"/>
              <a:ext cx="856472" cy="7127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E6854AB-DD25-D995-F91A-3C67247C34D7}"/>
                </a:ext>
              </a:extLst>
            </p:cNvPr>
            <p:cNvCxnSpPr>
              <a:cxnSpLocks/>
              <a:stCxn id="16" idx="1"/>
              <a:endCxn id="19" idx="3"/>
            </p:cNvCxnSpPr>
            <p:nvPr/>
          </p:nvCxnSpPr>
          <p:spPr>
            <a:xfrm flipH="1">
              <a:off x="3598085" y="235700"/>
              <a:ext cx="661495" cy="6476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76AB5DA-D868-444A-FE82-DD41150DC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57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F466-A063-418C-7AE0-3DFCF18C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AD665B-E755-1AD9-2965-AADAA8471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Cuestionario de frecuencia de uso</a:t>
            </a:r>
            <a:endParaRPr lang="es-ES_tradnl" sz="16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914400" lvl="1" indent="-341313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5 contextos de uso de español fuera de escuela, escalas Likert de 1 a 5</a:t>
            </a:r>
          </a:p>
          <a:p>
            <a:pPr marL="914400" lvl="1" indent="-341313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Contextos: con padres, con otros familiares, con amigos, en público, mirando la tele/usando el Internet)</a:t>
            </a:r>
          </a:p>
          <a:p>
            <a:pPr marL="914400" lvl="1" indent="-341313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hicieron la encuesta (no los padres/tutores)</a:t>
            </a:r>
            <a:endParaRPr lang="es-ES_tradnl" sz="18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 tareas de MDO con sustantivos propios (recogidas electrónicamente en la escuela o asincrónicamente)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Tarea de producción controlada, 10 ítems</a:t>
            </a:r>
          </a:p>
          <a:p>
            <a:pPr marL="754063" lvl="1">
              <a:buFont typeface="Wingdings" pitchFamily="2" charset="2"/>
              <a:buChar char="v"/>
            </a:pPr>
            <a:r>
              <a:rPr lang="es-ES_tradnl" sz="16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Tarea de selección (elección múltiple/forzada), 8 ítems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073751-A251-8E9F-DCC7-3AF989C5C354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1883B0-0474-17C7-CB96-9EBEE4BD656E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Métodos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5A3F2A-52C0-7650-D888-AEC00C02B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7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DF7E-5399-687C-4A5E-24356569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64C6A-28A1-5B8E-F1E2-090BB7C6AAF4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F03B6D-CF4B-081F-268E-AB0DD398F540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Tarea de </a:t>
            </a:r>
            <a:r>
              <a:rPr lang="en-US" sz="2800" b="1" noProof="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producción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905393-F416-6BFA-EB08-C16730624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9700" y="1064142"/>
            <a:ext cx="6400800" cy="3779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147661-9487-445D-90B4-BAA462BD9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94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1F62-708D-8994-6D38-E0221D98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724EB-CDEE-C57C-557E-2CA56CAF776D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B1BBB99-DCB7-B2CB-39A2-CCDE32A3F23E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Tarea de </a:t>
            </a:r>
            <a:r>
              <a:rPr lang="en-US" sz="2800" b="1" noProof="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selección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690ED6-6C72-C8E0-FBE9-12B0A50DE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9700" y="1062370"/>
            <a:ext cx="6400800" cy="37402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3FA59E-BB73-6D60-DBA3-2A2983C33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80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9585-D76B-D306-3B39-659D9035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E7FE9-FEB8-2D66-7D5A-D48175515623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0D63A3C-22D2-F65A-628D-EFE5FC6B4119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Resultados grupales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0F91B-04AF-98D7-A4E2-854EFCC26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E15DC9-CB26-FC2C-F225-15528116A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5" y="1276832"/>
            <a:ext cx="9107870" cy="364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D1D9-D402-1F70-B028-0AB65D256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57CFF-98CF-7500-BEAD-CC96460018CE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B5C862A-2045-9717-0C6C-BE8AD3B69308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Resultados grupales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DC5CB-35B7-EF4A-FD3A-F5CEF70B4B8A}"/>
              </a:ext>
            </a:extLst>
          </p:cNvPr>
          <p:cNvSpPr txBox="1"/>
          <p:nvPr/>
        </p:nvSpPr>
        <p:spPr>
          <a:xfrm>
            <a:off x="5486400" y="1841230"/>
            <a:ext cx="3505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i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Observaciones descriptivas:</a:t>
            </a: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Selección &gt; producción</a:t>
            </a:r>
            <a:endParaRPr lang="es-ES_tradnl" sz="18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estudiantes mayores de inmersión son más parecidos a los HH adultos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educación bilingüe (BL) facilitó la producción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92D90-FBB6-88F1-9175-DB1F18630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601602-7868-EC09-62F1-26BC6BF9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75001"/>
            <a:ext cx="548640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3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9593-A47B-7ACA-3DA9-0BEF6FDC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66013-93BC-913E-36C7-D2EBF346FF4B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61DE0659-1D9C-BD33-FAF0-1DAFD0751488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Diferencias individuales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64884-1D61-5804-6296-0B6CC0ED3559}"/>
              </a:ext>
            </a:extLst>
          </p:cNvPr>
          <p:cNvSpPr txBox="1"/>
          <p:nvPr/>
        </p:nvSpPr>
        <p:spPr>
          <a:xfrm>
            <a:off x="5638800" y="2044188"/>
            <a:ext cx="3505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Observaciones descriptivas:</a:t>
            </a: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Algunos HH son usuarios categóricos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No hay omisión categórica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Selección &gt; producción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5DE0A-783E-606E-CBE5-11512AD9A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3C5C1F-FCE3-CBBE-A886-C70F567CC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337135"/>
            <a:ext cx="5486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0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57E36-E467-EED1-2111-78BC21FE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DE4868-B2F0-8330-0CB4-E7E3A6BAB6B2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EE56CE4-B4EA-99DB-0FAC-1E3F65456277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Frecuencia de uso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7E59F-BF57-E45B-95EE-C3B1FAE7116B}"/>
              </a:ext>
            </a:extLst>
          </p:cNvPr>
          <p:cNvSpPr txBox="1"/>
          <p:nvPr/>
        </p:nvSpPr>
        <p:spPr>
          <a:xfrm>
            <a:off x="5504793" y="2060614"/>
            <a:ext cx="36392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 i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Observaciones descriptivas:</a:t>
            </a: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El uso fuera de escuela influye en la producción dentro de la escuela bilingüe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s-ES_tradnl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selección está menos influida por el uso/la activación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566E8-E7B1-54B6-8D06-B5B809C22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2964FB-5577-3F21-CCD7-D6B902138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3" y="1262865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1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D2662-2718-7D66-B08B-D48054A2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156208-54BB-BB83-8B7B-25603F897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Grupo (adultos, BL-7/8, ML-7/8, BL-5, ML-5)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Edad (5° grado, 7°/8° grado)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Escuela (bilingüe, monolingüe)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Tarea (producción, selección)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Uso (suma de las escalas Likert de los 5 contextos fuera de la escuela)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E7F96F-DA69-79AE-D79C-6C826D9CD23F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719A74C-65F6-F78A-46B7-D7F79D4F4A6E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AE446-C5BA-71D0-CB3D-16F705A3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4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1FF1-BB83-238E-1395-3457FFE2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75EFDC-B363-D795-0BD3-BE2A4840F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Grupo (adultos, BL-7/8, ML-7/8, BL-5, ML-5)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Edad (5° grado, 7°/8° grado)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Escuela (bilingüe, monolingüe)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Tarea (producción, selección)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Uso (suma de las escalas Likert de los 5 contextos fuera de la escuela)*</a:t>
            </a:r>
          </a:p>
          <a:p>
            <a:pPr marL="9525" indent="0">
              <a:buNone/>
            </a:pPr>
            <a:endParaRPr lang="es-ES_tradnl" sz="20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9525" indent="0">
              <a:buNone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* Variables estandarizadas por motivos de comparabilidad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9501B-CE55-0A8C-F5E8-E2BDA4DD3B29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63F43B34-538B-01D0-EC46-A9D92203092F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4F55E-CF97-10B8-5790-622D8AD84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64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D92F-F9CA-D5B9-1702-C518C558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551A9D-8D2C-6C9A-39AB-60BC4BDB5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9525" indent="0">
              <a:buNone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 #1 (todos): uso de MDO ~ Grupo + Uso + Tarea + Uso : Tarea + (1 | Participante) + (1 | Ítem)</a:t>
            </a:r>
            <a:endParaRPr lang="es-ES_tradnl" sz="16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9525" indent="0">
              <a:buNone/>
            </a:pPr>
            <a:endParaRPr lang="es-ES_tradnl" sz="20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9525" indent="0">
              <a:buNone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 #2 (niños): uso de MDO ~ Escuela + Edad + Tarea + Escuela : uso + Escuela : tarea + Uso : tarea + (1 | Participante) + (1 | Ítem)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FAD0BD-F371-6BB3-2D5C-09112E1EEE9E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DAC6A62-8F43-9B29-8E17-6D19A8A08076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Modelos estadísticos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C498F-1259-E741-4612-D7C42A0F2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9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3718B-DE52-4F22-C249-CD644CE1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0D9B9-8025-9206-3001-C3377BBD2FDF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C141E83-62A2-8A26-7197-633F7A9D0E73}"/>
              </a:ext>
            </a:extLst>
          </p:cNvPr>
          <p:cNvSpPr txBox="1">
            <a:spLocks/>
          </p:cNvSpPr>
          <p:nvPr/>
        </p:nvSpPr>
        <p:spPr>
          <a:xfrm>
            <a:off x="114300" y="454352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 #1: Resultados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0881C8-E492-C7ED-B1D5-44FE59D8F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81097"/>
              </p:ext>
            </p:extLst>
          </p:nvPr>
        </p:nvGraphicFramePr>
        <p:xfrm>
          <a:off x="171450" y="1276350"/>
          <a:ext cx="8801100" cy="350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90839574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8010187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7109570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710583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Efecto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Error </a:t>
                      </a:r>
                      <a:r>
                        <a:rPr lang="es-ES_tradnl" sz="1600" noProof="0" dirty="0" err="1">
                          <a:latin typeface="Palatino" pitchFamily="2" charset="77"/>
                          <a:ea typeface="Palatino" pitchFamily="2" charset="77"/>
                        </a:rPr>
                        <a:t>est</a:t>
                      </a:r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i="1" noProof="0" dirty="0">
                          <a:latin typeface="Palatino" pitchFamily="2" charset="77"/>
                          <a:ea typeface="Palatino" pitchFamily="2" charset="77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625060"/>
                  </a:ext>
                </a:extLst>
              </a:tr>
              <a:tr h="2184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(Intersección)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0.41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0.39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.283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15809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Grupo BL-7/8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0.34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0.68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.623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245149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Grupo ML-7/8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–1.67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0.63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.008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38092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Grupo BL-5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–1.26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0.55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.023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515081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Grupo ML-5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–2.27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0.61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E5700"/>
                          </a:solidFill>
                          <a:effectLst/>
                          <a:uLnTx/>
                          <a:uFillTx/>
                          <a:latin typeface="Palatino" pitchFamily="2" charset="77"/>
                          <a:ea typeface="Palatino" pitchFamily="2" charset="77"/>
                          <a:cs typeface="+mn-cs"/>
                        </a:rPr>
                        <a:t>&lt; .001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87314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Uso del español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0.28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0.21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i="0" noProof="0" dirty="0">
                          <a:latin typeface="Palatino" pitchFamily="2" charset="77"/>
                          <a:ea typeface="Palatino" pitchFamily="2" charset="77"/>
                        </a:rPr>
                        <a:t>.177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5353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Tarea de selección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2.48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0.32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i="1" noProof="0" dirty="0">
                          <a:latin typeface="Palatino" pitchFamily="2" charset="77"/>
                          <a:ea typeface="Palatino" pitchFamily="2" charset="77"/>
                        </a:rPr>
                        <a:t>&lt; .001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207847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Uso del español : Tarea de selección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–0.30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noProof="0" dirty="0">
                          <a:latin typeface="Palatino" pitchFamily="2" charset="77"/>
                          <a:ea typeface="Palatino" pitchFamily="2" charset="77"/>
                        </a:rPr>
                        <a:t>0.15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_tradnl" sz="1400" i="1" noProof="0" dirty="0">
                          <a:latin typeface="Palatino" pitchFamily="2" charset="77"/>
                          <a:ea typeface="Palatino" pitchFamily="2" charset="77"/>
                        </a:rPr>
                        <a:t>.050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790376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6C9EC3-BF55-32FF-7ED9-D34600514101}"/>
              </a:ext>
            </a:extLst>
          </p:cNvPr>
          <p:cNvSpPr txBox="1"/>
          <p:nvPr/>
        </p:nvSpPr>
        <p:spPr>
          <a:xfrm>
            <a:off x="171450" y="907018"/>
            <a:ext cx="8801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indent="0">
              <a:buNone/>
            </a:pPr>
            <a:r>
              <a:rPr lang="es-ES_tradnl" sz="14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 #1 (todos): uso de MDO ~ Grupo + Uso + Tarea + Uso : Tarea + (1 | Participante) + (1 | Ítem)</a:t>
            </a:r>
            <a:endParaRPr lang="es-ES_tradnl" sz="11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1F696-76BD-EBAA-7936-256AF4C3F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84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E522-8285-345A-56E3-36CC1A16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DC660F-342B-8D23-AC5A-A5B118F6A5F7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91FFDE-5A7A-0B0E-B2AC-58F0BFF5F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59595"/>
              </p:ext>
            </p:extLst>
          </p:nvPr>
        </p:nvGraphicFramePr>
        <p:xfrm>
          <a:off x="114300" y="964037"/>
          <a:ext cx="8801100" cy="4149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149683363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054815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5037956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56732372"/>
                    </a:ext>
                  </a:extLst>
                </a:gridCol>
              </a:tblGrid>
              <a:tr h="339774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alatino" pitchFamily="2" charset="77"/>
                          <a:ea typeface="Palatino" pitchFamily="2" charset="77"/>
                        </a:rPr>
                        <a:t>Efecto</a:t>
                      </a:r>
                      <a:endParaRPr lang="en-US" sz="16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Palatino" pitchFamily="2" charset="77"/>
                          <a:ea typeface="Palatino" pitchFamily="2" charset="77"/>
                        </a:rPr>
                        <a:t>Estimado</a:t>
                      </a:r>
                      <a:endParaRPr lang="en-US" sz="16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Palatino" pitchFamily="2" charset="77"/>
                          <a:ea typeface="Palatino" pitchFamily="2" charset="77"/>
                        </a:rPr>
                        <a:t>Error 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Palatino" pitchFamily="2" charset="77"/>
                          <a:ea typeface="Palatino" pitchFamily="2" charset="77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739974"/>
                  </a:ext>
                </a:extLst>
              </a:tr>
              <a:tr h="3397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Palatino" pitchFamily="2" charset="77"/>
                          <a:ea typeface="Palatino" pitchFamily="2" charset="77"/>
                        </a:rPr>
                        <a:t>Adultos</a:t>
                      </a: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 – BL-7/8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–0.34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0.68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.988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793697507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Palatino" pitchFamily="2" charset="77"/>
                          <a:ea typeface="Palatino" pitchFamily="2" charset="77"/>
                        </a:rPr>
                        <a:t>Adultos</a:t>
                      </a: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 – ML-7/8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1.68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0.63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.059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252542215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Palatino" pitchFamily="2" charset="77"/>
                          <a:ea typeface="Palatino" pitchFamily="2" charset="77"/>
                        </a:rPr>
                        <a:t>Adultos</a:t>
                      </a: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 – BL-5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1.26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0.55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.152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31892608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 err="1">
                          <a:latin typeface="Palatino" pitchFamily="2" charset="77"/>
                          <a:ea typeface="Palatino" pitchFamily="2" charset="77"/>
                        </a:rPr>
                        <a:t>Adultos</a:t>
                      </a: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 – ML-5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2.27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0.61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i="1" dirty="0">
                          <a:latin typeface="Palatino" pitchFamily="2" charset="77"/>
                          <a:ea typeface="Palatino" pitchFamily="2" charset="77"/>
                        </a:rPr>
                        <a:t>.002</a:t>
                      </a:r>
                      <a:endParaRPr sz="1300" i="1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6600901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BL-7/8 – ML-7/8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2.01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0.80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.086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997820595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BL-7/8 – BL-5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1.60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0.74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.196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135985092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BL-7/8 – ML-5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2.60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0.79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i="1" dirty="0">
                          <a:latin typeface="Palatino" pitchFamily="2" charset="77"/>
                          <a:ea typeface="Palatino" pitchFamily="2" charset="77"/>
                        </a:rPr>
                        <a:t>.008</a:t>
                      </a:r>
                      <a:endParaRPr sz="1300" i="1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591428151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ML-7/8 – BL-5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–0.41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0.69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.975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099428584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ML-7/8 – ML-5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0.60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0.74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.928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90373776"/>
                  </a:ext>
                </a:extLst>
              </a:tr>
              <a:tr h="3444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BL-5 – ML-5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1.01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0.67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Palatino" pitchFamily="2" charset="77"/>
                          <a:ea typeface="Palatino" pitchFamily="2" charset="77"/>
                        </a:rPr>
                        <a:t>.562</a:t>
                      </a:r>
                      <a:endParaRPr sz="13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029063797"/>
                  </a:ext>
                </a:extLst>
              </a:tr>
            </a:tbl>
          </a:graphicData>
        </a:graphic>
      </p:graphicFrame>
      <p:sp>
        <p:nvSpPr>
          <p:cNvPr id="7" name="Title 3">
            <a:extLst>
              <a:ext uri="{FF2B5EF4-FFF2-40B4-BE49-F238E27FC236}">
                <a16:creationId xmlns:a16="http://schemas.microsoft.com/office/drawing/2014/main" id="{FD8FDD38-C38A-EDFC-9583-74FE7679179B}"/>
              </a:ext>
            </a:extLst>
          </p:cNvPr>
          <p:cNvSpPr txBox="1">
            <a:spLocks/>
          </p:cNvSpPr>
          <p:nvPr/>
        </p:nvSpPr>
        <p:spPr>
          <a:xfrm>
            <a:off x="114300" y="454352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 1: </a:t>
            </a:r>
            <a:r>
              <a:rPr lang="en-US" sz="2800" b="1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Comparaciones</a:t>
            </a: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</a:t>
            </a:r>
            <a:r>
              <a:rPr lang="en-US" sz="2800" b="1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poshoc</a:t>
            </a: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</a:t>
            </a:r>
            <a:r>
              <a:rPr lang="en-US" sz="2800" b="1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por</a:t>
            </a: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</a:t>
            </a:r>
            <a:r>
              <a:rPr lang="en-US" sz="2800" b="1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grupo</a:t>
            </a:r>
            <a:endParaRPr lang="en-US" sz="2800" b="1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0FAE2-A28D-1882-7A49-F73E50906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49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7728-DA02-8EA2-6462-74197C67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0E58E0-519C-7BD3-4712-07B29E924E51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66E6E4E-DD7B-E609-B532-BAE5E8DE2F92}"/>
              </a:ext>
            </a:extLst>
          </p:cNvPr>
          <p:cNvSpPr txBox="1">
            <a:spLocks/>
          </p:cNvSpPr>
          <p:nvPr/>
        </p:nvSpPr>
        <p:spPr>
          <a:xfrm>
            <a:off x="114300" y="454352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 #2: Resultados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21F217-31A8-C094-594A-9EE7DEC25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51229"/>
              </p:ext>
            </p:extLst>
          </p:nvPr>
        </p:nvGraphicFramePr>
        <p:xfrm>
          <a:off x="171450" y="1276350"/>
          <a:ext cx="8801100" cy="350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90839574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8010187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7109570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710583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Efecto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Error </a:t>
                      </a:r>
                      <a:r>
                        <a:rPr lang="es-ES_tradnl" sz="1600" noProof="0" dirty="0" err="1">
                          <a:latin typeface="Palatino" pitchFamily="2" charset="77"/>
                          <a:ea typeface="Palatino" pitchFamily="2" charset="77"/>
                        </a:rPr>
                        <a:t>est</a:t>
                      </a:r>
                      <a:r>
                        <a:rPr lang="es-ES_tradnl" sz="1600" noProof="0" dirty="0">
                          <a:latin typeface="Palatino" pitchFamily="2" charset="77"/>
                          <a:ea typeface="Palatino" pitchFamily="2" charset="77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i="1" noProof="0" dirty="0">
                          <a:latin typeface="Palatino" pitchFamily="2" charset="77"/>
                          <a:ea typeface="Palatino" pitchFamily="2" charset="77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625060"/>
                  </a:ext>
                </a:extLst>
              </a:tr>
              <a:tr h="2184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(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Intersección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)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–0.49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0.42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dirty="0">
                          <a:latin typeface="Palatino" pitchFamily="2" charset="77"/>
                          <a:ea typeface="Palatino" pitchFamily="2" charset="77"/>
                        </a:rPr>
                        <a:t>.245</a:t>
                      </a:r>
                      <a:endParaRPr sz="1400" i="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15809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7°/8°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grado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1.08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0.47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>
                          <a:latin typeface="Palatino" pitchFamily="2" charset="77"/>
                          <a:ea typeface="Palatino" pitchFamily="2" charset="77"/>
                        </a:rPr>
                        <a:t>.021</a:t>
                      </a:r>
                      <a:endParaRPr sz="1400" i="1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245149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Escuela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monolingüe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–1.89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0.50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>
                          <a:latin typeface="Palatino" pitchFamily="2" charset="77"/>
                          <a:ea typeface="Palatino" pitchFamily="2" charset="77"/>
                        </a:rPr>
                        <a:t>&lt; .001</a:t>
                      </a:r>
                      <a:endParaRPr sz="1400" i="1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38092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Uso del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español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0.61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0.30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>
                          <a:latin typeface="Palatino" pitchFamily="2" charset="77"/>
                          <a:ea typeface="Palatino" pitchFamily="2" charset="77"/>
                        </a:rPr>
                        <a:t>.045</a:t>
                      </a:r>
                      <a:endParaRPr sz="1400" i="1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515081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Tarea de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selección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1.98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0.40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>
                          <a:latin typeface="Palatino" pitchFamily="2" charset="77"/>
                          <a:ea typeface="Palatino" pitchFamily="2" charset="77"/>
                        </a:rPr>
                        <a:t>&lt; .001</a:t>
                      </a:r>
                      <a:endParaRPr sz="1400" i="1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87314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Escuela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monolingüe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 :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Frecuencia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 de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uso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–0.45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0.44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dirty="0">
                          <a:latin typeface="Palatino" pitchFamily="2" charset="77"/>
                          <a:ea typeface="Palatino" pitchFamily="2" charset="77"/>
                        </a:rPr>
                        <a:t>.302</a:t>
                      </a:r>
                      <a:endParaRPr sz="1400" i="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5353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Escuela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monolingüe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 : Tarea de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selección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1.01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0.38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>
                          <a:latin typeface="Palatino" pitchFamily="2" charset="77"/>
                          <a:ea typeface="Palatino" pitchFamily="2" charset="77"/>
                        </a:rPr>
                        <a:t>.007</a:t>
                      </a:r>
                      <a:endParaRPr sz="1400" i="1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4207847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Uso del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español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 : Tarea de 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selección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–0.30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0.19</a:t>
                      </a:r>
                      <a:endParaRPr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dirty="0">
                          <a:latin typeface="Palatino" pitchFamily="2" charset="77"/>
                          <a:ea typeface="Palatino" pitchFamily="2" charset="77"/>
                        </a:rPr>
                        <a:t>.109</a:t>
                      </a:r>
                      <a:endParaRPr sz="1400" i="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790376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68F98A9-1B1E-5649-62F4-2DF3EE06E2C6}"/>
              </a:ext>
            </a:extLst>
          </p:cNvPr>
          <p:cNvSpPr txBox="1"/>
          <p:nvPr/>
        </p:nvSpPr>
        <p:spPr>
          <a:xfrm>
            <a:off x="171450" y="907018"/>
            <a:ext cx="8801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indent="0" algn="ctr">
              <a:buNone/>
            </a:pPr>
            <a:r>
              <a:rPr lang="es-ES_tradnl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Modelo #2 (niños): uso de MDO ~ Escuela + Edad + Tarea + Escuela : uso + Escuela : tarea + Uso : tarea + (1 | Participante) + (1 | Ítem)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54DA7-0BE1-7112-7874-A4947EDE0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71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116B5-1814-D518-B984-C3E47294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8C8193-C329-3AAD-9472-88EBD714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con educación bilingüe se parecían más a los adultos a una edad más joven (5° grado)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adolescentes de 7°/8° grado ya habían convergido en el sistema adulto de herencia del MDO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educación </a:t>
            </a:r>
            <a:r>
              <a:rPr lang="es-ES_tradnl" sz="20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y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el uso predecían la producción (descriptivamente)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selección era más fácil que la producción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educación bilingüe facilitó la producción más que la selección</a:t>
            </a:r>
          </a:p>
          <a:p>
            <a:pPr marL="35242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Alto rango de variabilidad individual sin ninguna omisión categórica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039E7-28F5-4AF3-9A67-DD0DFD19070E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55B8542-7E06-3667-A0B7-9303637BBB63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Resumen de resultados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F79684-F2F6-CB3E-07BB-5EDAE621F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7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EEC5-1B04-4657-22E1-8EC6F869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5BADB0-3059-8BDC-BB71-B9AF45315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125876"/>
            <a:ext cx="8915400" cy="2794104"/>
          </a:xfrm>
        </p:spPr>
        <p:txBody>
          <a:bodyPr>
            <a:normAutofit/>
          </a:bodyPr>
          <a:lstStyle/>
          <a:p>
            <a:pPr marL="354013" indent="-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que reciben la educación bilingüe convergen en el sistema de adultos y tal vez pasen a los adultos con edad</a:t>
            </a:r>
          </a:p>
          <a:p>
            <a:pPr marL="354013" indent="-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El uso de español fuera de la escuela influyó en el conocimiento</a:t>
            </a:r>
          </a:p>
          <a:p>
            <a:pPr marL="354013" indent="-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escuela y el uso fuera de la escuela influyen en el uso del MDO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F4A03D-C5C3-17AA-C2B3-E6FE156742A4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FBC35BA-6469-869D-E49F-24A94D14F89A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Pregunta de investigación #1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1356A2-4B99-692B-809A-07C414CF58B1}"/>
              </a:ext>
            </a:extLst>
          </p:cNvPr>
          <p:cNvSpPr/>
          <p:nvPr/>
        </p:nvSpPr>
        <p:spPr>
          <a:xfrm>
            <a:off x="1047750" y="1211476"/>
            <a:ext cx="7124700" cy="750674"/>
          </a:xfrm>
          <a:prstGeom prst="roundRect">
            <a:avLst/>
          </a:prstGeom>
          <a:solidFill>
            <a:srgbClr val="BF5700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7663" indent="-339329">
              <a:tabLst>
                <a:tab pos="164306" algn="l"/>
              </a:tabLst>
            </a:pPr>
            <a:r>
              <a:rPr lang="es-ES_tradnl" sz="2000" noProof="0" dirty="0">
                <a:latin typeface="Palatino" pitchFamily="2" charset="77"/>
                <a:ea typeface="Palatino" pitchFamily="2" charset="77"/>
              </a:rPr>
              <a:t>(1)	¿Influyen la edad, el uso del español, y la educación en la adquisición del MDO con objetos animados/específicos?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70B284-B857-94C1-0149-62A53684F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0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C0DA-4D71-B8B8-C1DF-FF2E20C7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9A820-87E7-61A9-7230-B98939FF2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125876"/>
            <a:ext cx="8915400" cy="2794104"/>
          </a:xfrm>
        </p:spPr>
        <p:txBody>
          <a:bodyPr>
            <a:normAutofit/>
          </a:bodyPr>
          <a:lstStyle/>
          <a:p>
            <a:pPr marL="354013" indent="-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Efecto claro que favorecía el conocimiento receptivo a través de los grupos</a:t>
            </a:r>
          </a:p>
          <a:p>
            <a:pPr marL="354013" indent="-354013">
              <a:buFont typeface="Wingdings" pitchFamily="2" charset="2"/>
              <a:buChar char="Ø"/>
            </a:pPr>
            <a:r>
              <a:rPr lang="es-ES_tradnl" sz="20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 educación modula el conocimiento productivo del MDO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(interacción de factores individuales e </a:t>
            </a:r>
            <a:r>
              <a:rPr lang="es-ES_tradnl" sz="20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intrahablantes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)</a:t>
            </a:r>
            <a:endParaRPr lang="es-ES_tradnl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09283-D02F-AF89-566E-4064EA369CAE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45CBCC5-9487-75F8-97F8-AA7332762995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Pregunta de investigación #2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84A0C8-A845-37AC-A6AD-77505741EC41}"/>
              </a:ext>
            </a:extLst>
          </p:cNvPr>
          <p:cNvSpPr/>
          <p:nvPr/>
        </p:nvSpPr>
        <p:spPr>
          <a:xfrm>
            <a:off x="1866900" y="1206279"/>
            <a:ext cx="5486400" cy="750674"/>
          </a:xfrm>
          <a:prstGeom prst="roundRect">
            <a:avLst/>
          </a:prstGeom>
          <a:solidFill>
            <a:srgbClr val="00B0F0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7663" indent="-339329">
              <a:tabLst>
                <a:tab pos="164306" algn="l"/>
              </a:tabLst>
            </a:pPr>
            <a:r>
              <a:rPr lang="es-ES_tradnl" sz="2000" noProof="0" dirty="0">
                <a:latin typeface="Palatino" pitchFamily="2" charset="77"/>
                <a:ea typeface="Palatino" pitchFamily="2" charset="77"/>
              </a:rPr>
              <a:t>(2)	¿Reconocen los HH el MDO más que lo producen?</a:t>
            </a:r>
            <a:endParaRPr lang="es-ES_tradnl" sz="2800" noProof="0" dirty="0"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8E7248-3AAA-F080-0ED8-1C1687CA4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5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959D-DA95-3A5C-ECAC-E6151AC4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30127B-001E-3918-F5B3-C0D18F6F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50838" indent="-34131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Avances metodológicos:</a:t>
            </a:r>
          </a:p>
          <a:p>
            <a:pPr marL="750888" lvl="1" indent="-320675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HH como puntos de comparación para otros HH (comparación justa/equitativa)</a:t>
            </a:r>
          </a:p>
          <a:p>
            <a:pPr marL="750888" lvl="1" indent="-320675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(pre)adolescentes pueden medir su uso del lenguaje</a:t>
            </a:r>
          </a:p>
          <a:p>
            <a:pPr marL="750888" lvl="1" indent="-320675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El uso y la educación son prerrequisitos de adquisición robusta (esp. productiva)</a:t>
            </a:r>
          </a:p>
          <a:p>
            <a:pPr marL="350838" indent="-32226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Los niños experimentan un desarrollo prolongado (Cuza, 2016; Cuza &amp; Solano-Escobar, 2025)</a:t>
            </a:r>
          </a:p>
          <a:p>
            <a:pPr marL="350838" indent="-322263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Apoyo para la activación, especialmente en la producción (Putnam &amp; Sánchez, 2013; </a:t>
            </a:r>
            <a:r>
              <a:rPr lang="es-ES_tradnl" sz="20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Perez</a:t>
            </a: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-Cortes et al., 2019)</a:t>
            </a:r>
            <a:endParaRPr lang="es-ES_tradnl" sz="16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71475">
              <a:buFont typeface="Wingdings" pitchFamily="2" charset="2"/>
              <a:buChar char="Ø"/>
            </a:pPr>
            <a:r>
              <a:rPr lang="es-ES_tradnl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Preguntas futuras:</a:t>
            </a:r>
            <a:endParaRPr lang="es-ES_tradnl" sz="22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771525" lvl="1" indent="-312738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¿Veremos más crecimiento en los niños con educación monolingüe en la adultez?</a:t>
            </a:r>
          </a:p>
          <a:p>
            <a:pPr marL="771525" lvl="1" indent="-312738">
              <a:buFont typeface="Wingdings" pitchFamily="2" charset="2"/>
              <a:buChar char="v"/>
            </a:pPr>
            <a:r>
              <a:rPr lang="es-ES_tradnl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¿Excederán los niños con educación bilingüe a los adultos HH sin educación en español?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6B072A-B8B4-CD6C-CAA5-6F25E4BB8EC9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7DD6A4E-F8CE-6CB5-75B2-E4106E51F129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Implicaciones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99A1DF-F4B3-FE6E-29F5-8D4F3F796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6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F24A4-AFD3-77DE-4E6A-C4C0561E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3563D1-B04F-D3A1-E3B2-275BEBF2A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51710"/>
            <a:ext cx="8915400" cy="4191790"/>
          </a:xfrm>
        </p:spPr>
        <p:txBody>
          <a:bodyPr>
            <a:noAutofit/>
          </a:bodyPr>
          <a:lstStyle/>
          <a:p>
            <a:pPr marL="346075" indent="-346075">
              <a:buNone/>
            </a:pPr>
            <a:r>
              <a:rPr lang="en-US" sz="950" dirty="0" err="1">
                <a:latin typeface="Palatino" pitchFamily="2" charset="77"/>
                <a:ea typeface="Palatino" pitchFamily="2" charset="77"/>
              </a:rPr>
              <a:t>Arechabaleta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 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Regulez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B., &amp; 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Montrul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S. (2023). Production, acceptability, and online comprehension of Spanish differential object marking by heritage speakers and L2 learners.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Frontiers in Psychology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14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1106613.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/10.3389/fpsyg.2023.1106613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Castilla-Earls, A., Francis, D., Iglesias, A., &amp; Davidson, K. (2019). The impact of the Spanish-to-English proficiency shift on the grammaticality of English learners.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Journal of Speech, Language, and Hearing Research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62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(6), 1739–1754.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/10.1044/2018_JSLHR-L-18-0324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Cuza, A. (2016). The status of interrogative subject–verb inversion in Spanish-English bilingual children.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Lingua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180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124–138.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/10.1016/j.lingua.2016.04.007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Cuza, A., Miller, L., Pérez-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Tattam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R., &amp; Ortiz Vergara, M. (2019). Structure complexity effects in child heritage Spanish: The case of the Spanish personal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a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International Journal of Bilingualism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23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(6), 1333–1357.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/10.1177/1367006918786467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Cuza, A., &amp; Solano-Escobar, L. (2023). Protracted development in child heritage Spanish: Evidence from inalienable possession.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Second Language Research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02676583231202608.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/10.1177/02676583231202608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Guijarro-Fuentes, P., Pires, A., &amp; 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Nediger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W. (2017). Delay in the acquisition of Differential Object Marking by Spanish monolingual and bilingual teenagers.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International Journal of Bilingualism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21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(2), 159–177.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/10.1177/1367006915601249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Howard, E. R., Lindholm-Leary, K. J., Rogers, D., Olague, N., Medina, J., Kennedy, B., Sugarman, J., &amp; Christian, D. (2018).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Guiding principles for dual language education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. Center for Applied Linguistics.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www.dlenm.org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/wp-content/uploads/2019/11/Guiding-Principles-for-Dual-Language-Education-3rd-edition.pdf</a:t>
            </a:r>
          </a:p>
          <a:p>
            <a:pPr marL="346075" indent="-346075">
              <a:buNone/>
            </a:pPr>
            <a:r>
              <a:rPr lang="en-US" sz="950">
                <a:latin typeface="Palatino" pitchFamily="2" charset="77"/>
                <a:ea typeface="Palatino" pitchFamily="2" charset="77"/>
              </a:rPr>
              <a:t>Montrul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S. (2018). Heritage language development: Connecting the dots.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International Journal of Bilingualism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22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(5), 530–546.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/10.1177/1367006916654368</a:t>
            </a:r>
          </a:p>
          <a:p>
            <a:pPr marL="346075" indent="-346075">
              <a:buNone/>
            </a:pPr>
            <a:r>
              <a:rPr lang="en-US" sz="950" dirty="0" err="1">
                <a:latin typeface="Palatino" pitchFamily="2" charset="77"/>
                <a:ea typeface="Palatino" pitchFamily="2" charset="77"/>
              </a:rPr>
              <a:t>Montrul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S., &amp; Sánchez-Walker, N. (2013). Differential object marking in child and adult Spanish heritage speakers.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Language Acquisition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20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(2), 109–132.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/10.1080/10489223.2013.766741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Perez-Cortes, S., Putnam, M., &amp; Sánchez, L. (2019). Differential access: Asymmetries in accessing features and building representations in heritage language grammars.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Languages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4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(81), 1–27.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/10.3390/languages4040081</a:t>
            </a:r>
          </a:p>
          <a:p>
            <a:pPr marL="346075" indent="-346075">
              <a:buNone/>
            </a:pPr>
            <a:r>
              <a:rPr lang="en-US" sz="950" dirty="0">
                <a:latin typeface="Palatino" pitchFamily="2" charset="77"/>
                <a:ea typeface="Palatino" pitchFamily="2" charset="77"/>
              </a:rPr>
              <a:t>Putnam, M. T., &amp; Sánchez, L. (2013). What’s so incomplete about incomplete acquisition?: A prolegomenon to modeling heritage language grammars.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Linguistic Approaches to Bilingualism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3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(4), 478–508. https://</a:t>
            </a:r>
            <a:r>
              <a:rPr lang="en-US" sz="950" dirty="0" err="1"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/10.1075/lab.3.4.04put</a:t>
            </a:r>
          </a:p>
          <a:p>
            <a:pPr marL="346075" indent="-346075">
              <a:buNone/>
            </a:pPr>
            <a:r>
              <a:rPr lang="en-US" sz="950" dirty="0" err="1">
                <a:latin typeface="Palatino" pitchFamily="2" charset="77"/>
                <a:ea typeface="Palatino" pitchFamily="2" charset="77"/>
              </a:rPr>
              <a:t>Torrego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, E. (1998). </a:t>
            </a:r>
            <a:r>
              <a:rPr lang="en-US" sz="950" i="1" dirty="0">
                <a:latin typeface="Palatino" pitchFamily="2" charset="77"/>
                <a:ea typeface="Palatino" pitchFamily="2" charset="77"/>
              </a:rPr>
              <a:t>The dependencies of objects</a:t>
            </a:r>
            <a:r>
              <a:rPr lang="en-US" sz="950" dirty="0">
                <a:latin typeface="Palatino" pitchFamily="2" charset="77"/>
                <a:ea typeface="Palatino" pitchFamily="2" charset="77"/>
              </a:rPr>
              <a:t>. MIT Press.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15932-6E1E-5A2A-A84C-14CCDA0044E8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E9BABF2-3BC7-488F-B420-E973DB1479FD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Referencias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9B6C0-D590-E054-4F4B-CAF26608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3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606D-FCCB-66D0-B9E6-DC51D668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3043EC-C8B8-1AF9-6783-12A54E723E53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60FB4CE-51C0-7A46-A95F-B9B2D48F320C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s-ES_tradnl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Siga la conversación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F4326-CECE-5239-A919-F73E46ADC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325"/>
            <a:ext cx="274320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8C2FB6-C44F-A81C-C03E-322C3A02A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0" y="1123950"/>
            <a:ext cx="3429000" cy="1698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30180F-FE95-1152-67F6-2AA7BDAE8F27}"/>
              </a:ext>
            </a:extLst>
          </p:cNvPr>
          <p:cNvSpPr txBox="1"/>
          <p:nvPr/>
        </p:nvSpPr>
        <p:spPr>
          <a:xfrm>
            <a:off x="1094554" y="3105150"/>
            <a:ext cx="7031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linkClick r:id="rId5"/>
              </a:rPr>
              <a:t>pdthane@utexas.edu</a:t>
            </a:r>
            <a:endParaRPr lang="en-US" dirty="0"/>
          </a:p>
          <a:p>
            <a:pPr algn="ctr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pthane</a:t>
            </a:r>
            <a:r>
              <a:rPr lang="en-US" dirty="0"/>
              <a:t>/DLI-Morphosyntax-2023</a:t>
            </a:r>
          </a:p>
        </p:txBody>
      </p:sp>
    </p:spTree>
    <p:extLst>
      <p:ext uri="{BB962C8B-B14F-4D97-AF65-F5344CB8AC3E}">
        <p14:creationId xmlns:p14="http://schemas.microsoft.com/office/powerpoint/2010/main" val="2238498448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25527</TotalTime>
  <Words>2445</Words>
  <Application>Microsoft Macintosh PowerPoint</Application>
  <PresentationFormat>On-screen Show (16:9)</PresentationFormat>
  <Paragraphs>345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Black</vt:lpstr>
      <vt:lpstr>Calibri</vt:lpstr>
      <vt:lpstr>Palatino</vt:lpstr>
      <vt:lpstr>Times New Roman</vt:lpstr>
      <vt:lpstr>Wingdings</vt:lpstr>
      <vt:lpstr>16-9 Cover</vt:lpstr>
      <vt:lpstr>16-9 Light Background</vt:lpstr>
      <vt:lpstr>16-9 White Backgroud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Thane, Patrick D</cp:lastModifiedBy>
  <cp:revision>3039</cp:revision>
  <cp:lastPrinted>2026-07-30T19:27:52Z</cp:lastPrinted>
  <dcterms:created xsi:type="dcterms:W3CDTF">2011-06-30T15:04:08Z</dcterms:created>
  <dcterms:modified xsi:type="dcterms:W3CDTF">2026-07-30T20:26:22Z</dcterms:modified>
  <cp:category/>
</cp:coreProperties>
</file>